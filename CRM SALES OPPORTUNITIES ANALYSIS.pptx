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sldIdLst>
    <p:sldId id="256" r:id="rId2"/>
    <p:sldId id="257" r:id="rId3"/>
    <p:sldId id="258" r:id="rId4"/>
    <p:sldId id="259" r:id="rId5"/>
    <p:sldId id="260" r:id="rId6"/>
    <p:sldId id="261" r:id="rId7"/>
    <p:sldId id="270" r:id="rId8"/>
    <p:sldId id="262" r:id="rId9"/>
    <p:sldId id="263" r:id="rId10"/>
    <p:sldId id="266" r:id="rId11"/>
    <p:sldId id="267" r:id="rId12"/>
    <p:sldId id="268" r:id="rId13"/>
    <p:sldId id="269" r:id="rId14"/>
    <p:sldId id="264" r:id="rId15"/>
    <p:sldId id="265"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50" autoAdjust="0"/>
    <p:restoredTop sz="94660"/>
  </p:normalViewPr>
  <p:slideViewPr>
    <p:cSldViewPr snapToGrid="0">
      <p:cViewPr varScale="1">
        <p:scale>
          <a:sx n="67" d="100"/>
          <a:sy n="67" d="100"/>
        </p:scale>
        <p:origin x="10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B6A54A3-2364-4CA3-A38F-4EBA4F566E42}" type="datetimeFigureOut">
              <a:rPr lang="en-GB" smtClean="0"/>
              <a:t>10/10/2025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9255346" y="2750337"/>
            <a:ext cx="1171888" cy="1356442"/>
          </a:xfrm>
        </p:spPr>
        <p:txBody>
          <a:bodyPr/>
          <a:lstStyle/>
          <a:p>
            <a:fld id="{377A1011-27D9-4D6E-9615-AA08D99C4837}" type="slidenum">
              <a:rPr lang="en-GB" smtClean="0"/>
              <a:t>‹#›</a:t>
            </a:fld>
            <a:endParaRPr lang="en-GB"/>
          </a:p>
        </p:txBody>
      </p:sp>
    </p:spTree>
    <p:extLst>
      <p:ext uri="{BB962C8B-B14F-4D97-AF65-F5344CB8AC3E}">
        <p14:creationId xmlns:p14="http://schemas.microsoft.com/office/powerpoint/2010/main" val="3840612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6A54A3-2364-4CA3-A38F-4EBA4F566E42}" type="datetimeFigureOut">
              <a:rPr lang="en-GB" smtClean="0"/>
              <a:t>10/10/2025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77A1011-27D9-4D6E-9615-AA08D99C4837}" type="slidenum">
              <a:rPr lang="en-GB" smtClean="0"/>
              <a:t>‹#›</a:t>
            </a:fld>
            <a:endParaRPr lang="en-GB"/>
          </a:p>
        </p:txBody>
      </p:sp>
    </p:spTree>
    <p:extLst>
      <p:ext uri="{BB962C8B-B14F-4D97-AF65-F5344CB8AC3E}">
        <p14:creationId xmlns:p14="http://schemas.microsoft.com/office/powerpoint/2010/main" val="1239813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6A54A3-2364-4CA3-A38F-4EBA4F566E42}" type="datetimeFigureOut">
              <a:rPr lang="en-GB" smtClean="0"/>
              <a:t>10/10/2025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10729455" y="2869895"/>
            <a:ext cx="1154151" cy="1090789"/>
          </a:xfrm>
        </p:spPr>
        <p:txBody>
          <a:bodyPr/>
          <a:lstStyle/>
          <a:p>
            <a:fld id="{377A1011-27D9-4D6E-9615-AA08D99C4837}" type="slidenum">
              <a:rPr lang="en-GB" smtClean="0"/>
              <a:t>‹#›</a:t>
            </a:fld>
            <a:endParaRPr lang="en-GB"/>
          </a:p>
        </p:txBody>
      </p:sp>
    </p:spTree>
    <p:extLst>
      <p:ext uri="{BB962C8B-B14F-4D97-AF65-F5344CB8AC3E}">
        <p14:creationId xmlns:p14="http://schemas.microsoft.com/office/powerpoint/2010/main" val="842092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6A54A3-2364-4CA3-A38F-4EBA4F566E42}" type="datetimeFigureOut">
              <a:rPr lang="en-GB" smtClean="0"/>
              <a:t>10/10/2025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77A1011-27D9-4D6E-9615-AA08D99C4837}" type="slidenum">
              <a:rPr lang="en-GB" smtClean="0"/>
              <a:t>‹#›</a:t>
            </a:fld>
            <a:endParaRPr lang="en-GB"/>
          </a:p>
        </p:txBody>
      </p:sp>
    </p:spTree>
    <p:extLst>
      <p:ext uri="{BB962C8B-B14F-4D97-AF65-F5344CB8AC3E}">
        <p14:creationId xmlns:p14="http://schemas.microsoft.com/office/powerpoint/2010/main" val="542497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B6A54A3-2364-4CA3-A38F-4EBA4F566E42}" type="datetimeFigureOut">
              <a:rPr lang="en-GB" smtClean="0"/>
              <a:t>10/10/2025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77A1011-27D9-4D6E-9615-AA08D99C4837}" type="slidenum">
              <a:rPr lang="en-GB" smtClean="0"/>
              <a:t>‹#›</a:t>
            </a:fld>
            <a:endParaRPr lang="en-GB"/>
          </a:p>
        </p:txBody>
      </p:sp>
    </p:spTree>
    <p:extLst>
      <p:ext uri="{BB962C8B-B14F-4D97-AF65-F5344CB8AC3E}">
        <p14:creationId xmlns:p14="http://schemas.microsoft.com/office/powerpoint/2010/main" val="3186267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6A54A3-2364-4CA3-A38F-4EBA4F566E42}" type="datetimeFigureOut">
              <a:rPr lang="en-GB" smtClean="0"/>
              <a:t>10/10/2025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77A1011-27D9-4D6E-9615-AA08D99C4837}" type="slidenum">
              <a:rPr lang="en-GB" smtClean="0"/>
              <a:t>‹#›</a:t>
            </a:fld>
            <a:endParaRPr lang="en-GB"/>
          </a:p>
        </p:txBody>
      </p:sp>
    </p:spTree>
    <p:extLst>
      <p:ext uri="{BB962C8B-B14F-4D97-AF65-F5344CB8AC3E}">
        <p14:creationId xmlns:p14="http://schemas.microsoft.com/office/powerpoint/2010/main" val="2505365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2B6A54A3-2364-4CA3-A38F-4EBA4F566E42}" type="datetimeFigureOut">
              <a:rPr lang="en-GB" smtClean="0"/>
              <a:t>10/10/2025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77A1011-27D9-4D6E-9615-AA08D99C4837}" type="slidenum">
              <a:rPr lang="en-GB" smtClean="0"/>
              <a:t>‹#›</a:t>
            </a:fld>
            <a:endParaRPr lang="en-GB"/>
          </a:p>
        </p:txBody>
      </p:sp>
    </p:spTree>
    <p:extLst>
      <p:ext uri="{BB962C8B-B14F-4D97-AF65-F5344CB8AC3E}">
        <p14:creationId xmlns:p14="http://schemas.microsoft.com/office/powerpoint/2010/main" val="2546049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B6A54A3-2364-4CA3-A38F-4EBA4F566E42}" type="datetimeFigureOut">
              <a:rPr lang="en-GB" smtClean="0"/>
              <a:t>10/10/2025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77A1011-27D9-4D6E-9615-AA08D99C4837}" type="slidenum">
              <a:rPr lang="en-GB" smtClean="0"/>
              <a:t>‹#›</a:t>
            </a:fld>
            <a:endParaRPr lang="en-GB"/>
          </a:p>
        </p:txBody>
      </p:sp>
    </p:spTree>
    <p:extLst>
      <p:ext uri="{BB962C8B-B14F-4D97-AF65-F5344CB8AC3E}">
        <p14:creationId xmlns:p14="http://schemas.microsoft.com/office/powerpoint/2010/main" val="22510000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B6A54A3-2364-4CA3-A38F-4EBA4F566E42}" type="datetimeFigureOut">
              <a:rPr lang="en-GB" smtClean="0"/>
              <a:t>10/10/2025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77A1011-27D9-4D6E-9615-AA08D99C4837}" type="slidenum">
              <a:rPr lang="en-GB" smtClean="0"/>
              <a:t>‹#›</a:t>
            </a:fld>
            <a:endParaRPr lang="en-GB"/>
          </a:p>
        </p:txBody>
      </p:sp>
    </p:spTree>
    <p:extLst>
      <p:ext uri="{BB962C8B-B14F-4D97-AF65-F5344CB8AC3E}">
        <p14:creationId xmlns:p14="http://schemas.microsoft.com/office/powerpoint/2010/main" val="873377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B6A54A3-2364-4CA3-A38F-4EBA4F566E42}" type="datetimeFigureOut">
              <a:rPr lang="en-GB" smtClean="0"/>
              <a:t>10/10/2025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10729455" y="4711309"/>
            <a:ext cx="1154151" cy="1090789"/>
          </a:xfrm>
        </p:spPr>
        <p:txBody>
          <a:bodyPr/>
          <a:lstStyle/>
          <a:p>
            <a:fld id="{377A1011-27D9-4D6E-9615-AA08D99C4837}" type="slidenum">
              <a:rPr lang="en-GB" smtClean="0"/>
              <a:t>‹#›</a:t>
            </a:fld>
            <a:endParaRPr lang="en-GB"/>
          </a:p>
        </p:txBody>
      </p:sp>
    </p:spTree>
    <p:extLst>
      <p:ext uri="{BB962C8B-B14F-4D97-AF65-F5344CB8AC3E}">
        <p14:creationId xmlns:p14="http://schemas.microsoft.com/office/powerpoint/2010/main" val="552907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B6A54A3-2364-4CA3-A38F-4EBA4F566E42}" type="datetimeFigureOut">
              <a:rPr lang="en-GB" smtClean="0"/>
              <a:t>10/10/2025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10729455" y="4711615"/>
            <a:ext cx="1154151" cy="1090789"/>
          </a:xfrm>
        </p:spPr>
        <p:txBody>
          <a:bodyPr/>
          <a:lstStyle/>
          <a:p>
            <a:fld id="{377A1011-27D9-4D6E-9615-AA08D99C4837}" type="slidenum">
              <a:rPr lang="en-GB" smtClean="0"/>
              <a:t>‹#›</a:t>
            </a:fld>
            <a:endParaRPr lang="en-GB"/>
          </a:p>
        </p:txBody>
      </p:sp>
    </p:spTree>
    <p:extLst>
      <p:ext uri="{BB962C8B-B14F-4D97-AF65-F5344CB8AC3E}">
        <p14:creationId xmlns:p14="http://schemas.microsoft.com/office/powerpoint/2010/main" val="15687869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B6A54A3-2364-4CA3-A38F-4EBA4F566E42}" type="datetimeFigureOut">
              <a:rPr lang="en-GB" smtClean="0"/>
              <a:t>10/10/2025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10729455" y="4709925"/>
            <a:ext cx="1154151" cy="1090789"/>
          </a:xfrm>
        </p:spPr>
        <p:txBody>
          <a:bodyPr/>
          <a:lstStyle/>
          <a:p>
            <a:fld id="{377A1011-27D9-4D6E-9615-AA08D99C4837}" type="slidenum">
              <a:rPr lang="en-GB" smtClean="0"/>
              <a:t>‹#›</a:t>
            </a:fld>
            <a:endParaRPr lang="en-GB"/>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18485813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B6A54A3-2364-4CA3-A38F-4EBA4F566E42}" type="datetimeFigureOut">
              <a:rPr lang="en-GB" smtClean="0"/>
              <a:t>10/10/2025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10729455" y="4709925"/>
            <a:ext cx="1154151" cy="1090789"/>
          </a:xfrm>
        </p:spPr>
        <p:txBody>
          <a:bodyPr/>
          <a:lstStyle/>
          <a:p>
            <a:fld id="{377A1011-27D9-4D6E-9615-AA08D99C4837}" type="slidenum">
              <a:rPr lang="en-GB" smtClean="0"/>
              <a:t>‹#›</a:t>
            </a:fld>
            <a:endParaRPr lang="en-GB"/>
          </a:p>
        </p:txBody>
      </p:sp>
    </p:spTree>
    <p:extLst>
      <p:ext uri="{BB962C8B-B14F-4D97-AF65-F5344CB8AC3E}">
        <p14:creationId xmlns:p14="http://schemas.microsoft.com/office/powerpoint/2010/main" val="4283772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B6A54A3-2364-4CA3-A38F-4EBA4F566E42}" type="datetimeFigureOut">
              <a:rPr lang="en-GB" smtClean="0"/>
              <a:t>10/10/2025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77A1011-27D9-4D6E-9615-AA08D99C4837}" type="slidenum">
              <a:rPr lang="en-GB" smtClean="0"/>
              <a:t>‹#›</a:t>
            </a:fld>
            <a:endParaRPr lang="en-GB"/>
          </a:p>
        </p:txBody>
      </p:sp>
    </p:spTree>
    <p:extLst>
      <p:ext uri="{BB962C8B-B14F-4D97-AF65-F5344CB8AC3E}">
        <p14:creationId xmlns:p14="http://schemas.microsoft.com/office/powerpoint/2010/main" val="20196200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B6A54A3-2364-4CA3-A38F-4EBA4F566E42}" type="datetimeFigureOut">
              <a:rPr lang="en-GB" smtClean="0"/>
              <a:t>10/10/2025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77A1011-27D9-4D6E-9615-AA08D99C4837}" type="slidenum">
              <a:rPr lang="en-GB" smtClean="0"/>
              <a:t>‹#›</a:t>
            </a:fld>
            <a:endParaRPr lang="en-GB"/>
          </a:p>
        </p:txBody>
      </p:sp>
    </p:spTree>
    <p:extLst>
      <p:ext uri="{BB962C8B-B14F-4D97-AF65-F5344CB8AC3E}">
        <p14:creationId xmlns:p14="http://schemas.microsoft.com/office/powerpoint/2010/main" val="3373581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6A54A3-2364-4CA3-A38F-4EBA4F566E42}" type="datetimeFigureOut">
              <a:rPr lang="en-GB" smtClean="0"/>
              <a:t>10/10/2025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77A1011-27D9-4D6E-9615-AA08D99C4837}" type="slidenum">
              <a:rPr lang="en-GB" smtClean="0"/>
              <a:t>‹#›</a:t>
            </a:fld>
            <a:endParaRPr lang="en-GB"/>
          </a:p>
        </p:txBody>
      </p:sp>
    </p:spTree>
    <p:extLst>
      <p:ext uri="{BB962C8B-B14F-4D97-AF65-F5344CB8AC3E}">
        <p14:creationId xmlns:p14="http://schemas.microsoft.com/office/powerpoint/2010/main" val="33861035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2B6A54A3-2364-4CA3-A38F-4EBA4F566E42}" type="datetimeFigureOut">
              <a:rPr lang="en-GB" smtClean="0"/>
              <a:t>10/10/2025</a:t>
            </a:fld>
            <a:endParaRPr lang="en-GB"/>
          </a:p>
        </p:txBody>
      </p:sp>
      <p:sp>
        <p:nvSpPr>
          <p:cNvPr id="5" name="Footer Placeholder 4"/>
          <p:cNvSpPr>
            <a:spLocks noGrp="1"/>
          </p:cNvSpPr>
          <p:nvPr>
            <p:ph type="ftr" sz="quarter" idx="11"/>
          </p:nvPr>
        </p:nvSpPr>
        <p:spPr>
          <a:xfrm>
            <a:off x="680321" y="5936188"/>
            <a:ext cx="6126805" cy="365125"/>
          </a:xfrm>
        </p:spPr>
        <p:txBody>
          <a:bodyPr/>
          <a:lstStyle/>
          <a:p>
            <a:endParaRPr lang="en-GB"/>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377A1011-27D9-4D6E-9615-AA08D99C4837}" type="slidenum">
              <a:rPr lang="en-GB" smtClean="0"/>
              <a:t>‹#›</a:t>
            </a:fld>
            <a:endParaRPr lang="en-GB"/>
          </a:p>
        </p:txBody>
      </p:sp>
    </p:spTree>
    <p:extLst>
      <p:ext uri="{BB962C8B-B14F-4D97-AF65-F5344CB8AC3E}">
        <p14:creationId xmlns:p14="http://schemas.microsoft.com/office/powerpoint/2010/main" val="1561161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B6A54A3-2364-4CA3-A38F-4EBA4F566E42}" type="datetimeFigureOut">
              <a:rPr lang="en-GB" smtClean="0"/>
              <a:t>10/10/2025</a:t>
            </a:fld>
            <a:endParaRPr lang="en-GB"/>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377A1011-27D9-4D6E-9615-AA08D99C4837}" type="slidenum">
              <a:rPr lang="en-GB" smtClean="0"/>
              <a:t>‹#›</a:t>
            </a:fld>
            <a:endParaRPr lang="en-GB"/>
          </a:p>
        </p:txBody>
      </p:sp>
    </p:spTree>
    <p:extLst>
      <p:ext uri="{BB962C8B-B14F-4D97-AF65-F5344CB8AC3E}">
        <p14:creationId xmlns:p14="http://schemas.microsoft.com/office/powerpoint/2010/main" val="4012691732"/>
      </p:ext>
    </p:extLst>
  </p:cSld>
  <p:clrMap bg1="dk1" tx1="lt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3CC9F-6F7C-762D-FB5C-31A4E8B60F90}"/>
              </a:ext>
            </a:extLst>
          </p:cNvPr>
          <p:cNvSpPr>
            <a:spLocks noGrp="1"/>
          </p:cNvSpPr>
          <p:nvPr>
            <p:ph type="ctrTitle"/>
          </p:nvPr>
        </p:nvSpPr>
        <p:spPr/>
        <p:txBody>
          <a:bodyPr>
            <a:normAutofit/>
          </a:bodyPr>
          <a:lstStyle/>
          <a:p>
            <a:pPr algn="ctr"/>
            <a:r>
              <a:rPr lang="en-US" sz="3200" dirty="0"/>
              <a:t>CRM SALES OPPORTUNITIES ANALYSIS</a:t>
            </a:r>
            <a:endParaRPr lang="en-GB" sz="3200" dirty="0"/>
          </a:p>
        </p:txBody>
      </p:sp>
      <p:sp>
        <p:nvSpPr>
          <p:cNvPr id="3" name="Subtitle 2">
            <a:extLst>
              <a:ext uri="{FF2B5EF4-FFF2-40B4-BE49-F238E27FC236}">
                <a16:creationId xmlns:a16="http://schemas.microsoft.com/office/drawing/2014/main" id="{B8F207EB-30B2-1DA9-9386-70028CB5B3C4}"/>
              </a:ext>
            </a:extLst>
          </p:cNvPr>
          <p:cNvSpPr>
            <a:spLocks noGrp="1"/>
          </p:cNvSpPr>
          <p:nvPr>
            <p:ph type="subTitle" idx="1"/>
          </p:nvPr>
        </p:nvSpPr>
        <p:spPr/>
        <p:txBody>
          <a:bodyPr/>
          <a:lstStyle/>
          <a:p>
            <a:pPr algn="ctr"/>
            <a:r>
              <a:rPr lang="en-US" dirty="0"/>
              <a:t>Analyzing Sales Pipeline Performance and Driving Data-Informed Decisions</a:t>
            </a:r>
            <a:endParaRPr lang="en-GB" dirty="0"/>
          </a:p>
        </p:txBody>
      </p:sp>
      <p:sp>
        <p:nvSpPr>
          <p:cNvPr id="4" name="TextBox 3">
            <a:extLst>
              <a:ext uri="{FF2B5EF4-FFF2-40B4-BE49-F238E27FC236}">
                <a16:creationId xmlns:a16="http://schemas.microsoft.com/office/drawing/2014/main" id="{22822497-1FFD-9B66-390E-282A95628688}"/>
              </a:ext>
            </a:extLst>
          </p:cNvPr>
          <p:cNvSpPr txBox="1"/>
          <p:nvPr/>
        </p:nvSpPr>
        <p:spPr>
          <a:xfrm>
            <a:off x="9429750" y="5872163"/>
            <a:ext cx="2571750" cy="369332"/>
          </a:xfrm>
          <a:prstGeom prst="rect">
            <a:avLst/>
          </a:prstGeom>
          <a:noFill/>
        </p:spPr>
        <p:txBody>
          <a:bodyPr wrap="square" rtlCol="0">
            <a:spAutoFit/>
          </a:bodyPr>
          <a:lstStyle/>
          <a:p>
            <a:r>
              <a:rPr lang="en-GB" dirty="0"/>
              <a:t>By Ebunoluwa Nofiu</a:t>
            </a:r>
          </a:p>
        </p:txBody>
      </p:sp>
    </p:spTree>
    <p:extLst>
      <p:ext uri="{BB962C8B-B14F-4D97-AF65-F5344CB8AC3E}">
        <p14:creationId xmlns:p14="http://schemas.microsoft.com/office/powerpoint/2010/main" val="1126119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94EBA-162F-9E87-5555-90097E307171}"/>
              </a:ext>
            </a:extLst>
          </p:cNvPr>
          <p:cNvSpPr>
            <a:spLocks noGrp="1"/>
          </p:cNvSpPr>
          <p:nvPr>
            <p:ph type="title"/>
          </p:nvPr>
        </p:nvSpPr>
        <p:spPr/>
        <p:txBody>
          <a:bodyPr>
            <a:normAutofit/>
          </a:bodyPr>
          <a:lstStyle/>
          <a:p>
            <a:pPr algn="ctr"/>
            <a:r>
              <a:rPr lang="en-US" sz="3200" dirty="0"/>
              <a:t>DASHBOARD OVERVIEW</a:t>
            </a:r>
            <a:endParaRPr lang="en-GB" sz="3200" dirty="0"/>
          </a:p>
        </p:txBody>
      </p:sp>
      <p:pic>
        <p:nvPicPr>
          <p:cNvPr id="11" name="Content Placeholder 10">
            <a:extLst>
              <a:ext uri="{FF2B5EF4-FFF2-40B4-BE49-F238E27FC236}">
                <a16:creationId xmlns:a16="http://schemas.microsoft.com/office/drawing/2014/main" id="{5127CB31-3572-E209-26C2-25231DEA683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0321" y="2114550"/>
            <a:ext cx="9613861" cy="4586288"/>
          </a:xfrm>
        </p:spPr>
      </p:pic>
    </p:spTree>
    <p:extLst>
      <p:ext uri="{BB962C8B-B14F-4D97-AF65-F5344CB8AC3E}">
        <p14:creationId xmlns:p14="http://schemas.microsoft.com/office/powerpoint/2010/main" val="2206029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4EAC5-BA04-5CFC-8107-D37EA3558733}"/>
              </a:ext>
            </a:extLst>
          </p:cNvPr>
          <p:cNvSpPr>
            <a:spLocks noGrp="1"/>
          </p:cNvSpPr>
          <p:nvPr>
            <p:ph type="title"/>
          </p:nvPr>
        </p:nvSpPr>
        <p:spPr/>
        <p:txBody>
          <a:bodyPr>
            <a:normAutofit/>
          </a:bodyPr>
          <a:lstStyle/>
          <a:p>
            <a:pPr algn="ctr"/>
            <a:r>
              <a:rPr lang="en-US" sz="3200" dirty="0"/>
              <a:t>INTRODUCTION</a:t>
            </a:r>
            <a:endParaRPr lang="en-GB" sz="3200" dirty="0"/>
          </a:p>
        </p:txBody>
      </p:sp>
      <p:sp>
        <p:nvSpPr>
          <p:cNvPr id="3" name="Content Placeholder 2">
            <a:extLst>
              <a:ext uri="{FF2B5EF4-FFF2-40B4-BE49-F238E27FC236}">
                <a16:creationId xmlns:a16="http://schemas.microsoft.com/office/drawing/2014/main" id="{B8E75E17-0B0B-A231-D7AC-55995023FE12}"/>
              </a:ext>
            </a:extLst>
          </p:cNvPr>
          <p:cNvSpPr>
            <a:spLocks noGrp="1"/>
          </p:cNvSpPr>
          <p:nvPr>
            <p:ph idx="1"/>
          </p:nvPr>
        </p:nvSpPr>
        <p:spPr>
          <a:xfrm>
            <a:off x="680321" y="2528889"/>
            <a:ext cx="9613861" cy="3407300"/>
          </a:xfrm>
        </p:spPr>
        <p:txBody>
          <a:bodyPr/>
          <a:lstStyle/>
          <a:p>
            <a:pPr marL="0" indent="0">
              <a:buNone/>
            </a:pPr>
            <a:r>
              <a:rPr lang="en-US" dirty="0"/>
              <a:t>       </a:t>
            </a:r>
            <a:r>
              <a:rPr lang="en-US" sz="2000" dirty="0"/>
              <a:t>This project focuses on evaluating CRM sales opportunities data to determine how various sales teams, agents, and products perform across the organization’s sales pipeline. The goal is to determine the main drivers of revenue, identify where deals are being lost, and highlight opportunities to improve performance. </a:t>
            </a:r>
          </a:p>
          <a:p>
            <a:pPr marL="0" indent="0">
              <a:buNone/>
            </a:pPr>
            <a:r>
              <a:rPr lang="en-US" sz="2000" dirty="0"/>
              <a:t>This project delivers insights into revenue, win rate, and deal stage trends, allowing management to make smarter, data-driven decisions to improve conversion rates, reinforce team performance, and boost overall sales efficiency.</a:t>
            </a:r>
            <a:endParaRPr lang="en-GB" sz="2000" dirty="0"/>
          </a:p>
        </p:txBody>
      </p:sp>
    </p:spTree>
    <p:extLst>
      <p:ext uri="{BB962C8B-B14F-4D97-AF65-F5344CB8AC3E}">
        <p14:creationId xmlns:p14="http://schemas.microsoft.com/office/powerpoint/2010/main" val="1172743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9A5FF-EFDE-1E47-F813-846E74042A3D}"/>
              </a:ext>
            </a:extLst>
          </p:cNvPr>
          <p:cNvSpPr>
            <a:spLocks noGrp="1"/>
          </p:cNvSpPr>
          <p:nvPr>
            <p:ph type="title"/>
          </p:nvPr>
        </p:nvSpPr>
        <p:spPr/>
        <p:txBody>
          <a:bodyPr>
            <a:normAutofit/>
          </a:bodyPr>
          <a:lstStyle/>
          <a:p>
            <a:pPr algn="ctr"/>
            <a:r>
              <a:rPr lang="en-US" sz="3200" dirty="0"/>
              <a:t>OBJECTIVES</a:t>
            </a:r>
            <a:endParaRPr lang="en-GB" sz="3200" dirty="0"/>
          </a:p>
        </p:txBody>
      </p:sp>
      <p:sp>
        <p:nvSpPr>
          <p:cNvPr id="3" name="Content Placeholder 2">
            <a:extLst>
              <a:ext uri="{FF2B5EF4-FFF2-40B4-BE49-F238E27FC236}">
                <a16:creationId xmlns:a16="http://schemas.microsoft.com/office/drawing/2014/main" id="{9A7FB71F-CAA3-9B8D-DCF9-AAB32796DCE1}"/>
              </a:ext>
            </a:extLst>
          </p:cNvPr>
          <p:cNvSpPr>
            <a:spLocks noGrp="1"/>
          </p:cNvSpPr>
          <p:nvPr>
            <p:ph idx="1"/>
          </p:nvPr>
        </p:nvSpPr>
        <p:spPr>
          <a:xfrm>
            <a:off x="680321" y="3036961"/>
            <a:ext cx="9613861" cy="3599316"/>
          </a:xfrm>
        </p:spPr>
        <p:txBody>
          <a:bodyPr>
            <a:normAutofit/>
          </a:bodyPr>
          <a:lstStyle/>
          <a:p>
            <a:pPr>
              <a:buFont typeface="Wingdings" panose="05000000000000000000" pitchFamily="2" charset="2"/>
              <a:buChar char="§"/>
            </a:pPr>
            <a:r>
              <a:rPr lang="en-US" sz="2000" dirty="0"/>
              <a:t>Evaluate overall sales performance and revenue drivers.</a:t>
            </a:r>
          </a:p>
          <a:p>
            <a:pPr>
              <a:buFont typeface="Wingdings" panose="05000000000000000000" pitchFamily="2" charset="2"/>
              <a:buChar char="§"/>
            </a:pPr>
            <a:r>
              <a:rPr lang="en-US" sz="2000" dirty="0"/>
              <a:t>Assess sales team and agent effectiveness.</a:t>
            </a:r>
          </a:p>
          <a:p>
            <a:pPr>
              <a:buFont typeface="Wingdings" panose="05000000000000000000" pitchFamily="2" charset="2"/>
              <a:buChar char="§"/>
            </a:pPr>
            <a:r>
              <a:rPr lang="en-US" sz="2000" dirty="0"/>
              <a:t>Analyze product and industry contributions to revenue.</a:t>
            </a:r>
            <a:endParaRPr lang="en-GB" sz="2000" dirty="0"/>
          </a:p>
        </p:txBody>
      </p:sp>
    </p:spTree>
    <p:extLst>
      <p:ext uri="{BB962C8B-B14F-4D97-AF65-F5344CB8AC3E}">
        <p14:creationId xmlns:p14="http://schemas.microsoft.com/office/powerpoint/2010/main" val="4157442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6A29-9079-EB49-CA21-F17E161CCBB1}"/>
              </a:ext>
            </a:extLst>
          </p:cNvPr>
          <p:cNvSpPr>
            <a:spLocks noGrp="1"/>
          </p:cNvSpPr>
          <p:nvPr>
            <p:ph type="title"/>
          </p:nvPr>
        </p:nvSpPr>
        <p:spPr/>
        <p:txBody>
          <a:bodyPr>
            <a:normAutofit/>
          </a:bodyPr>
          <a:lstStyle/>
          <a:p>
            <a:pPr algn="ctr"/>
            <a:r>
              <a:rPr lang="en-US" sz="3200" dirty="0"/>
              <a:t>PROBLEM STATEMENT</a:t>
            </a:r>
            <a:endParaRPr lang="en-GB" sz="3200" dirty="0"/>
          </a:p>
        </p:txBody>
      </p:sp>
      <p:sp>
        <p:nvSpPr>
          <p:cNvPr id="3" name="Content Placeholder 2">
            <a:extLst>
              <a:ext uri="{FF2B5EF4-FFF2-40B4-BE49-F238E27FC236}">
                <a16:creationId xmlns:a16="http://schemas.microsoft.com/office/drawing/2014/main" id="{1901068B-217F-1644-2769-D1B629ED73C9}"/>
              </a:ext>
            </a:extLst>
          </p:cNvPr>
          <p:cNvSpPr>
            <a:spLocks noGrp="1"/>
          </p:cNvSpPr>
          <p:nvPr>
            <p:ph idx="1"/>
          </p:nvPr>
        </p:nvSpPr>
        <p:spPr>
          <a:xfrm>
            <a:off x="680321" y="3008385"/>
            <a:ext cx="9613861" cy="3599316"/>
          </a:xfrm>
        </p:spPr>
        <p:txBody>
          <a:bodyPr>
            <a:normAutofit/>
          </a:bodyPr>
          <a:lstStyle/>
          <a:p>
            <a:pPr>
              <a:buFont typeface="Wingdings" panose="05000000000000000000" pitchFamily="2" charset="2"/>
              <a:buChar char="§"/>
            </a:pPr>
            <a:r>
              <a:rPr lang="en-US" sz="2000" dirty="0"/>
              <a:t>Sales leadership lacks visibility into team performance, product/industry revenue drivers, and deal losses across the pipeline.</a:t>
            </a:r>
          </a:p>
          <a:p>
            <a:pPr>
              <a:buFont typeface="Wingdings" panose="05000000000000000000" pitchFamily="2" charset="2"/>
              <a:buChar char="§"/>
            </a:pPr>
            <a:r>
              <a:rPr lang="en-US" sz="2000" dirty="0"/>
              <a:t>This gap makes it difficult to optimize strategy, allocate resources effectively, and maximize revenue. </a:t>
            </a:r>
            <a:endParaRPr lang="en-GB" sz="2000" dirty="0"/>
          </a:p>
        </p:txBody>
      </p:sp>
    </p:spTree>
    <p:extLst>
      <p:ext uri="{BB962C8B-B14F-4D97-AF65-F5344CB8AC3E}">
        <p14:creationId xmlns:p14="http://schemas.microsoft.com/office/powerpoint/2010/main" val="2677645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FB88D-321D-A2AC-C709-D7D8DDD49C5D}"/>
              </a:ext>
            </a:extLst>
          </p:cNvPr>
          <p:cNvSpPr>
            <a:spLocks noGrp="1"/>
          </p:cNvSpPr>
          <p:nvPr>
            <p:ph type="title"/>
          </p:nvPr>
        </p:nvSpPr>
        <p:spPr/>
        <p:txBody>
          <a:bodyPr>
            <a:normAutofit/>
          </a:bodyPr>
          <a:lstStyle/>
          <a:p>
            <a:pPr algn="ctr"/>
            <a:r>
              <a:rPr lang="en-US" sz="3200" dirty="0"/>
              <a:t>BUSINESS QUESTIONS</a:t>
            </a:r>
            <a:endParaRPr lang="en-GB" sz="3200" dirty="0"/>
          </a:p>
        </p:txBody>
      </p:sp>
      <p:sp>
        <p:nvSpPr>
          <p:cNvPr id="3" name="Content Placeholder 2">
            <a:extLst>
              <a:ext uri="{FF2B5EF4-FFF2-40B4-BE49-F238E27FC236}">
                <a16:creationId xmlns:a16="http://schemas.microsoft.com/office/drawing/2014/main" id="{866B3700-6797-41D6-BE6C-74ED247A2273}"/>
              </a:ext>
            </a:extLst>
          </p:cNvPr>
          <p:cNvSpPr>
            <a:spLocks noGrp="1"/>
          </p:cNvSpPr>
          <p:nvPr>
            <p:ph idx="1"/>
          </p:nvPr>
        </p:nvSpPr>
        <p:spPr>
          <a:xfrm>
            <a:off x="780334" y="2708348"/>
            <a:ext cx="9613861" cy="3599316"/>
          </a:xfrm>
        </p:spPr>
        <p:txBody>
          <a:bodyPr>
            <a:normAutofit/>
          </a:bodyPr>
          <a:lstStyle/>
          <a:p>
            <a:r>
              <a:rPr lang="en-US" dirty="0"/>
              <a:t>Which sales team is generating the highest revenue?</a:t>
            </a:r>
          </a:p>
          <a:p>
            <a:r>
              <a:rPr lang="en-US" dirty="0"/>
              <a:t>Which sales agent has the best win rate?</a:t>
            </a:r>
          </a:p>
          <a:p>
            <a:r>
              <a:rPr lang="en-US" dirty="0"/>
              <a:t>How has total revenue changed from quarter to quarter?</a:t>
            </a:r>
          </a:p>
          <a:p>
            <a:r>
              <a:rPr lang="en-US" dirty="0"/>
              <a:t>Which product generates the most revenue?</a:t>
            </a:r>
          </a:p>
          <a:p>
            <a:r>
              <a:rPr lang="en-US" dirty="0"/>
              <a:t>At what stage of the sales process are the most deals lost?</a:t>
            </a:r>
            <a:endParaRPr lang="en-GB" dirty="0"/>
          </a:p>
        </p:txBody>
      </p:sp>
    </p:spTree>
    <p:extLst>
      <p:ext uri="{BB962C8B-B14F-4D97-AF65-F5344CB8AC3E}">
        <p14:creationId xmlns:p14="http://schemas.microsoft.com/office/powerpoint/2010/main" val="409127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1CE03-4C55-6065-A09E-EDAB06580AFE}"/>
              </a:ext>
            </a:extLst>
          </p:cNvPr>
          <p:cNvSpPr>
            <a:spLocks noGrp="1"/>
          </p:cNvSpPr>
          <p:nvPr>
            <p:ph type="title"/>
          </p:nvPr>
        </p:nvSpPr>
        <p:spPr/>
        <p:txBody>
          <a:bodyPr>
            <a:normAutofit/>
          </a:bodyPr>
          <a:lstStyle/>
          <a:p>
            <a:pPr algn="ctr"/>
            <a:r>
              <a:rPr lang="en-US" sz="3200" dirty="0"/>
              <a:t>DATASET OVERVIEW</a:t>
            </a:r>
            <a:endParaRPr lang="en-GB" sz="3200" dirty="0"/>
          </a:p>
        </p:txBody>
      </p:sp>
      <p:sp>
        <p:nvSpPr>
          <p:cNvPr id="3" name="Content Placeholder 2">
            <a:extLst>
              <a:ext uri="{FF2B5EF4-FFF2-40B4-BE49-F238E27FC236}">
                <a16:creationId xmlns:a16="http://schemas.microsoft.com/office/drawing/2014/main" id="{E11B82FC-E30F-BB57-EEE7-DAB2446DC82E}"/>
              </a:ext>
            </a:extLst>
          </p:cNvPr>
          <p:cNvSpPr>
            <a:spLocks noGrp="1"/>
          </p:cNvSpPr>
          <p:nvPr>
            <p:ph idx="1"/>
          </p:nvPr>
        </p:nvSpPr>
        <p:spPr>
          <a:xfrm>
            <a:off x="680321" y="2822648"/>
            <a:ext cx="9613861" cy="3599316"/>
          </a:xfrm>
        </p:spPr>
        <p:txBody>
          <a:bodyPr>
            <a:normAutofit/>
          </a:bodyPr>
          <a:lstStyle/>
          <a:p>
            <a:pPr marL="0" indent="0">
              <a:buNone/>
            </a:pPr>
            <a:r>
              <a:rPr lang="en-US" b="1" dirty="0"/>
              <a:t>Source</a:t>
            </a:r>
            <a:r>
              <a:rPr lang="en-US" dirty="0"/>
              <a:t>: Maven Analytics CRM Sales Opportunities.</a:t>
            </a:r>
          </a:p>
          <a:p>
            <a:pPr marL="0" indent="0">
              <a:buNone/>
            </a:pPr>
            <a:r>
              <a:rPr lang="en-US" b="1" dirty="0"/>
              <a:t>Structure:</a:t>
            </a:r>
            <a:r>
              <a:rPr lang="en-US" dirty="0"/>
              <a:t> 4 tables – Accounts, Products, Sales Teams, Sales Pipeline.</a:t>
            </a:r>
          </a:p>
          <a:p>
            <a:pPr marL="0" indent="0">
              <a:buNone/>
            </a:pPr>
            <a:r>
              <a:rPr lang="en-US" dirty="0"/>
              <a:t>Star schema with Sales Pipeline as the fact table.</a:t>
            </a:r>
          </a:p>
          <a:p>
            <a:pPr marL="0" indent="0">
              <a:buNone/>
            </a:pPr>
            <a:r>
              <a:rPr lang="en-US" b="1" dirty="0"/>
              <a:t>Stats:</a:t>
            </a:r>
            <a:r>
              <a:rPr lang="en-US" dirty="0"/>
              <a:t> 8,800 opportunities analyzed.</a:t>
            </a:r>
            <a:endParaRPr lang="en-GB" sz="1800" dirty="0"/>
          </a:p>
        </p:txBody>
      </p:sp>
    </p:spTree>
    <p:extLst>
      <p:ext uri="{BB962C8B-B14F-4D97-AF65-F5344CB8AC3E}">
        <p14:creationId xmlns:p14="http://schemas.microsoft.com/office/powerpoint/2010/main" val="4135879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FD468-803C-7648-993B-DA8AD7E79BAB}"/>
              </a:ext>
            </a:extLst>
          </p:cNvPr>
          <p:cNvSpPr>
            <a:spLocks noGrp="1"/>
          </p:cNvSpPr>
          <p:nvPr>
            <p:ph type="title"/>
          </p:nvPr>
        </p:nvSpPr>
        <p:spPr/>
        <p:txBody>
          <a:bodyPr>
            <a:normAutofit/>
          </a:bodyPr>
          <a:lstStyle/>
          <a:p>
            <a:pPr algn="ctr"/>
            <a:r>
              <a:rPr lang="en-US" sz="3200" dirty="0"/>
              <a:t>ANALYSIS AND FINDINGS</a:t>
            </a:r>
            <a:endParaRPr lang="en-GB" sz="3200" dirty="0"/>
          </a:p>
        </p:txBody>
      </p:sp>
      <p:sp>
        <p:nvSpPr>
          <p:cNvPr id="3" name="Content Placeholder 2">
            <a:extLst>
              <a:ext uri="{FF2B5EF4-FFF2-40B4-BE49-F238E27FC236}">
                <a16:creationId xmlns:a16="http://schemas.microsoft.com/office/drawing/2014/main" id="{4F26F4DD-CE99-055C-7BA0-84FF7895D55B}"/>
              </a:ext>
            </a:extLst>
          </p:cNvPr>
          <p:cNvSpPr>
            <a:spLocks noGrp="1"/>
          </p:cNvSpPr>
          <p:nvPr>
            <p:ph idx="1"/>
          </p:nvPr>
        </p:nvSpPr>
        <p:spPr/>
        <p:txBody>
          <a:bodyPr>
            <a:normAutofit/>
          </a:bodyPr>
          <a:lstStyle/>
          <a:p>
            <a:pPr marL="0" indent="0" algn="ctr">
              <a:buNone/>
            </a:pPr>
            <a:endParaRPr lang="en-US" sz="1800" dirty="0"/>
          </a:p>
          <a:p>
            <a:pPr marL="0" indent="0" algn="ctr">
              <a:buNone/>
            </a:pPr>
            <a:r>
              <a:rPr lang="en-GB" b="1" dirty="0"/>
              <a:t>KEY PERFORMANCE INDICATORS (KPIs):</a:t>
            </a:r>
          </a:p>
          <a:p>
            <a:r>
              <a:rPr lang="en-GB" b="1" dirty="0"/>
              <a:t>Total Opportunities: </a:t>
            </a:r>
            <a:r>
              <a:rPr lang="en-GB" dirty="0"/>
              <a:t>8,800 opportunities were recorded in the dataset.</a:t>
            </a:r>
          </a:p>
          <a:p>
            <a:r>
              <a:rPr lang="en-GB" b="1" dirty="0"/>
              <a:t>Total Revenue: </a:t>
            </a:r>
            <a:r>
              <a:rPr lang="en-GB" dirty="0"/>
              <a:t>$10.01M was generated from all deals.</a:t>
            </a:r>
          </a:p>
          <a:p>
            <a:r>
              <a:rPr lang="en-GB" b="1" dirty="0"/>
              <a:t>Total Wins: </a:t>
            </a:r>
            <a:r>
              <a:rPr lang="en-GB" dirty="0"/>
              <a:t>4,238 deals were successfully closed.</a:t>
            </a:r>
          </a:p>
          <a:p>
            <a:r>
              <a:rPr lang="en-GB" b="1" dirty="0"/>
              <a:t>Win Rate %: </a:t>
            </a:r>
            <a:r>
              <a:rPr lang="en-GB" dirty="0"/>
              <a:t>48% of opportunities resulted in a win.</a:t>
            </a:r>
          </a:p>
          <a:p>
            <a:r>
              <a:rPr lang="en-GB" b="1" dirty="0"/>
              <a:t>Average Deal Value (Won): </a:t>
            </a:r>
            <a:r>
              <a:rPr lang="en-GB" dirty="0"/>
              <a:t>$2,360 per closed deal.</a:t>
            </a:r>
          </a:p>
        </p:txBody>
      </p:sp>
    </p:spTree>
    <p:extLst>
      <p:ext uri="{BB962C8B-B14F-4D97-AF65-F5344CB8AC3E}">
        <p14:creationId xmlns:p14="http://schemas.microsoft.com/office/powerpoint/2010/main" val="3372294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9E8D8-DAC6-8D16-6517-C7B0D771FFFC}"/>
              </a:ext>
            </a:extLst>
          </p:cNvPr>
          <p:cNvSpPr>
            <a:spLocks noGrp="1"/>
          </p:cNvSpPr>
          <p:nvPr>
            <p:ph type="title"/>
          </p:nvPr>
        </p:nvSpPr>
        <p:spPr/>
        <p:txBody>
          <a:bodyPr>
            <a:normAutofit/>
          </a:bodyPr>
          <a:lstStyle/>
          <a:p>
            <a:pPr algn="ctr"/>
            <a:r>
              <a:rPr lang="en-US" sz="2800" dirty="0"/>
              <a:t>Which sales team is generating the highest revenue?</a:t>
            </a:r>
            <a:endParaRPr lang="en-GB" sz="2800" dirty="0"/>
          </a:p>
        </p:txBody>
      </p:sp>
      <p:sp>
        <p:nvSpPr>
          <p:cNvPr id="7" name="TextBox 6">
            <a:extLst>
              <a:ext uri="{FF2B5EF4-FFF2-40B4-BE49-F238E27FC236}">
                <a16:creationId xmlns:a16="http://schemas.microsoft.com/office/drawing/2014/main" id="{1E459E40-ABEF-A519-BFAF-9128376949E8}"/>
              </a:ext>
            </a:extLst>
          </p:cNvPr>
          <p:cNvSpPr txBox="1"/>
          <p:nvPr/>
        </p:nvSpPr>
        <p:spPr>
          <a:xfrm>
            <a:off x="6095999" y="2588716"/>
            <a:ext cx="5891213" cy="1938992"/>
          </a:xfrm>
          <a:prstGeom prst="rect">
            <a:avLst/>
          </a:prstGeom>
          <a:noFill/>
        </p:spPr>
        <p:txBody>
          <a:bodyPr wrap="square" rtlCol="0">
            <a:spAutoFit/>
          </a:bodyPr>
          <a:lstStyle/>
          <a:p>
            <a:pPr marL="285750" indent="-285750">
              <a:buFont typeface="Arial" panose="020B0604020202020204" pitchFamily="34" charset="0"/>
              <a:buChar char="•"/>
            </a:pPr>
            <a:r>
              <a:rPr lang="en-US" sz="2000" dirty="0"/>
              <a:t>Melvin Marxen’s team outperformed other teams.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 This shows strong sales leadership and execution, setting the team as a performance standard.</a:t>
            </a:r>
            <a:endParaRPr lang="en-GB" sz="2000" dirty="0"/>
          </a:p>
        </p:txBody>
      </p:sp>
      <p:pic>
        <p:nvPicPr>
          <p:cNvPr id="8" name="Content Placeholder 7">
            <a:extLst>
              <a:ext uri="{FF2B5EF4-FFF2-40B4-BE49-F238E27FC236}">
                <a16:creationId xmlns:a16="http://schemas.microsoft.com/office/drawing/2014/main" id="{3E89B564-8C9F-A039-EDBB-76046AF3E62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0321" y="2180183"/>
            <a:ext cx="4790838" cy="4251960"/>
          </a:xfrm>
        </p:spPr>
      </p:pic>
    </p:spTree>
    <p:extLst>
      <p:ext uri="{BB962C8B-B14F-4D97-AF65-F5344CB8AC3E}">
        <p14:creationId xmlns:p14="http://schemas.microsoft.com/office/powerpoint/2010/main" val="2954905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00263-80D3-7DBA-C68C-104A71CE57AB}"/>
              </a:ext>
            </a:extLst>
          </p:cNvPr>
          <p:cNvSpPr>
            <a:spLocks noGrp="1"/>
          </p:cNvSpPr>
          <p:nvPr>
            <p:ph type="title"/>
          </p:nvPr>
        </p:nvSpPr>
        <p:spPr/>
        <p:txBody>
          <a:bodyPr>
            <a:normAutofit/>
          </a:bodyPr>
          <a:lstStyle/>
          <a:p>
            <a:pPr algn="ctr"/>
            <a:r>
              <a:rPr lang="en-US" sz="2800" dirty="0"/>
              <a:t>Which sales agent has the best win rate?</a:t>
            </a:r>
            <a:endParaRPr lang="en-GB" sz="2800" dirty="0"/>
          </a:p>
        </p:txBody>
      </p:sp>
      <p:sp>
        <p:nvSpPr>
          <p:cNvPr id="17" name="TextBox 16">
            <a:extLst>
              <a:ext uri="{FF2B5EF4-FFF2-40B4-BE49-F238E27FC236}">
                <a16:creationId xmlns:a16="http://schemas.microsoft.com/office/drawing/2014/main" id="{64B03619-6593-0E1E-F052-298027DE5A54}"/>
              </a:ext>
            </a:extLst>
          </p:cNvPr>
          <p:cNvSpPr txBox="1"/>
          <p:nvPr/>
        </p:nvSpPr>
        <p:spPr>
          <a:xfrm>
            <a:off x="6095999" y="2642235"/>
            <a:ext cx="5719763" cy="1631216"/>
          </a:xfrm>
          <a:prstGeom prst="rect">
            <a:avLst/>
          </a:prstGeom>
          <a:noFill/>
        </p:spPr>
        <p:txBody>
          <a:bodyPr wrap="square" rtlCol="0">
            <a:spAutoFit/>
          </a:bodyPr>
          <a:lstStyle/>
          <a:p>
            <a:pPr marL="285750" indent="-285750">
              <a:buFont typeface="Arial" panose="020B0604020202020204" pitchFamily="34" charset="0"/>
              <a:buChar char="•"/>
            </a:pPr>
            <a:r>
              <a:rPr lang="en-US" sz="2000" dirty="0"/>
              <a:t>Reed Clapper had the highest win rate, while Lajuana Vencill had the lowest.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 gap draws attention to inconsistent agent performance.</a:t>
            </a:r>
            <a:endParaRPr lang="en-GB" sz="2000" dirty="0"/>
          </a:p>
        </p:txBody>
      </p:sp>
      <p:pic>
        <p:nvPicPr>
          <p:cNvPr id="11" name="Content Placeholder 10">
            <a:extLst>
              <a:ext uri="{FF2B5EF4-FFF2-40B4-BE49-F238E27FC236}">
                <a16:creationId xmlns:a16="http://schemas.microsoft.com/office/drawing/2014/main" id="{2080B282-93CC-95ED-888E-BE5883332CE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5322" y="2270760"/>
            <a:ext cx="4791600" cy="4236720"/>
          </a:xfrm>
        </p:spPr>
      </p:pic>
    </p:spTree>
    <p:extLst>
      <p:ext uri="{BB962C8B-B14F-4D97-AF65-F5344CB8AC3E}">
        <p14:creationId xmlns:p14="http://schemas.microsoft.com/office/powerpoint/2010/main" val="1682940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59CE2-A19F-6153-A6F5-97B874E71425}"/>
              </a:ext>
            </a:extLst>
          </p:cNvPr>
          <p:cNvSpPr>
            <a:spLocks noGrp="1"/>
          </p:cNvSpPr>
          <p:nvPr>
            <p:ph type="title"/>
          </p:nvPr>
        </p:nvSpPr>
        <p:spPr/>
        <p:txBody>
          <a:bodyPr>
            <a:normAutofit/>
          </a:bodyPr>
          <a:lstStyle/>
          <a:p>
            <a:pPr algn="ctr"/>
            <a:r>
              <a:rPr lang="en-US" sz="2800" dirty="0"/>
              <a:t>How has total revenue changed from quarter to quarter?</a:t>
            </a:r>
            <a:endParaRPr lang="en-GB" sz="2800" dirty="0"/>
          </a:p>
        </p:txBody>
      </p:sp>
      <p:sp>
        <p:nvSpPr>
          <p:cNvPr id="6" name="TextBox 5">
            <a:extLst>
              <a:ext uri="{FF2B5EF4-FFF2-40B4-BE49-F238E27FC236}">
                <a16:creationId xmlns:a16="http://schemas.microsoft.com/office/drawing/2014/main" id="{F24696F8-BA5F-71DA-2946-971A97654DFE}"/>
              </a:ext>
            </a:extLst>
          </p:cNvPr>
          <p:cNvSpPr txBox="1"/>
          <p:nvPr/>
        </p:nvSpPr>
        <p:spPr>
          <a:xfrm>
            <a:off x="6096000" y="2704882"/>
            <a:ext cx="5834063" cy="1938992"/>
          </a:xfrm>
          <a:prstGeom prst="rect">
            <a:avLst/>
          </a:prstGeom>
          <a:noFill/>
        </p:spPr>
        <p:txBody>
          <a:bodyPr wrap="square" rtlCol="0">
            <a:spAutoFit/>
          </a:bodyPr>
          <a:lstStyle/>
          <a:p>
            <a:pPr marL="285750" indent="-285750">
              <a:buFont typeface="Arial" panose="020B0604020202020204" pitchFamily="34" charset="0"/>
              <a:buChar char="•"/>
            </a:pPr>
            <a:r>
              <a:rPr lang="en-US" sz="2000" dirty="0"/>
              <a:t>Revenue peaked in Q2 2017, and declined slightly in subsequent quarters.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This pattern indicates that growth pace has slowed, indicating circumstances need to be reviewed.</a:t>
            </a:r>
            <a:endParaRPr lang="en-GB" sz="2000" dirty="0"/>
          </a:p>
        </p:txBody>
      </p:sp>
      <p:pic>
        <p:nvPicPr>
          <p:cNvPr id="8" name="Content Placeholder 7">
            <a:extLst>
              <a:ext uri="{FF2B5EF4-FFF2-40B4-BE49-F238E27FC236}">
                <a16:creationId xmlns:a16="http://schemas.microsoft.com/office/drawing/2014/main" id="{B49CD741-2C96-C57A-E608-439076CF670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2199" y="2133600"/>
            <a:ext cx="4791600" cy="4482256"/>
          </a:xfrm>
        </p:spPr>
      </p:pic>
    </p:spTree>
    <p:extLst>
      <p:ext uri="{BB962C8B-B14F-4D97-AF65-F5344CB8AC3E}">
        <p14:creationId xmlns:p14="http://schemas.microsoft.com/office/powerpoint/2010/main" val="123115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DC0E4-E3F2-073E-5711-57044829895B}"/>
              </a:ext>
            </a:extLst>
          </p:cNvPr>
          <p:cNvSpPr>
            <a:spLocks noGrp="1"/>
          </p:cNvSpPr>
          <p:nvPr>
            <p:ph type="title"/>
          </p:nvPr>
        </p:nvSpPr>
        <p:spPr/>
        <p:txBody>
          <a:bodyPr/>
          <a:lstStyle/>
          <a:p>
            <a:pPr algn="ctr"/>
            <a:r>
              <a:rPr lang="en-US" sz="2800" dirty="0"/>
              <a:t>Which product generates the most revenue?</a:t>
            </a:r>
            <a:endParaRPr lang="en-GB" dirty="0"/>
          </a:p>
        </p:txBody>
      </p:sp>
      <p:sp>
        <p:nvSpPr>
          <p:cNvPr id="8" name="TextBox 7">
            <a:extLst>
              <a:ext uri="{FF2B5EF4-FFF2-40B4-BE49-F238E27FC236}">
                <a16:creationId xmlns:a16="http://schemas.microsoft.com/office/drawing/2014/main" id="{D2E0CFB0-3373-2748-C637-E39A2646AF11}"/>
              </a:ext>
            </a:extLst>
          </p:cNvPr>
          <p:cNvSpPr txBox="1"/>
          <p:nvPr/>
        </p:nvSpPr>
        <p:spPr>
          <a:xfrm>
            <a:off x="6096000" y="2461244"/>
            <a:ext cx="5848350" cy="1938992"/>
          </a:xfrm>
          <a:prstGeom prst="rect">
            <a:avLst/>
          </a:prstGeom>
          <a:noFill/>
        </p:spPr>
        <p:txBody>
          <a:bodyPr wrap="square" rtlCol="0">
            <a:spAutoFit/>
          </a:bodyPr>
          <a:lstStyle/>
          <a:p>
            <a:pPr marL="285750" indent="-285750">
              <a:buFont typeface="Arial" panose="020B0604020202020204" pitchFamily="34" charset="0"/>
              <a:buChar char="•"/>
            </a:pPr>
            <a:r>
              <a:rPr lang="en-US" sz="2000" dirty="0"/>
              <a:t>GTX Plus Pro had the highest product revenue, while MG Special did poorly.</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 results support GTX Plus Pro’s status as a primary source of income, while MG Special may need a review of strategy.</a:t>
            </a:r>
            <a:endParaRPr lang="en-GB" sz="2000" dirty="0"/>
          </a:p>
        </p:txBody>
      </p:sp>
      <p:pic>
        <p:nvPicPr>
          <p:cNvPr id="16" name="Content Placeholder 15">
            <a:extLst>
              <a:ext uri="{FF2B5EF4-FFF2-40B4-BE49-F238E27FC236}">
                <a16:creationId xmlns:a16="http://schemas.microsoft.com/office/drawing/2014/main" id="{C4E10C52-E463-0FD8-F36D-F3B9347B6E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0063" y="2214563"/>
            <a:ext cx="4986336" cy="4386262"/>
          </a:xfrm>
        </p:spPr>
      </p:pic>
    </p:spTree>
    <p:extLst>
      <p:ext uri="{BB962C8B-B14F-4D97-AF65-F5344CB8AC3E}">
        <p14:creationId xmlns:p14="http://schemas.microsoft.com/office/powerpoint/2010/main" val="1582694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5E9B2-8773-BDB1-B26E-8F13E800A62E}"/>
              </a:ext>
            </a:extLst>
          </p:cNvPr>
          <p:cNvSpPr>
            <a:spLocks noGrp="1"/>
          </p:cNvSpPr>
          <p:nvPr>
            <p:ph type="title"/>
          </p:nvPr>
        </p:nvSpPr>
        <p:spPr/>
        <p:txBody>
          <a:bodyPr>
            <a:normAutofit/>
          </a:bodyPr>
          <a:lstStyle/>
          <a:p>
            <a:pPr algn="ctr"/>
            <a:r>
              <a:rPr lang="en-US" sz="2800" dirty="0"/>
              <a:t>At what stage of the sales process are the most deals lost?</a:t>
            </a:r>
            <a:endParaRPr lang="en-GB" sz="2800" dirty="0"/>
          </a:p>
        </p:txBody>
      </p:sp>
      <p:sp>
        <p:nvSpPr>
          <p:cNvPr id="6" name="TextBox 5">
            <a:extLst>
              <a:ext uri="{FF2B5EF4-FFF2-40B4-BE49-F238E27FC236}">
                <a16:creationId xmlns:a16="http://schemas.microsoft.com/office/drawing/2014/main" id="{8CAE53D7-46AD-1012-2311-C584C29E5A4F}"/>
              </a:ext>
            </a:extLst>
          </p:cNvPr>
          <p:cNvSpPr txBox="1"/>
          <p:nvPr/>
        </p:nvSpPr>
        <p:spPr>
          <a:xfrm>
            <a:off x="6096000" y="2474590"/>
            <a:ext cx="5891213" cy="1938992"/>
          </a:xfrm>
          <a:prstGeom prst="rect">
            <a:avLst/>
          </a:prstGeom>
          <a:noFill/>
        </p:spPr>
        <p:txBody>
          <a:bodyPr wrap="square" rtlCol="0">
            <a:spAutoFit/>
          </a:bodyPr>
          <a:lstStyle/>
          <a:p>
            <a:pPr marL="285750" indent="-285750">
              <a:buFont typeface="Arial" panose="020B0604020202020204" pitchFamily="34" charset="0"/>
              <a:buChar char="•"/>
            </a:pPr>
            <a:r>
              <a:rPr lang="en-US" sz="2000" dirty="0"/>
              <a:t>The “Lost” stage still accounts for the majority of deals.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This points to significant hindrances in deal closure, emphasizing the need for better sales strategies.</a:t>
            </a:r>
            <a:endParaRPr lang="en-GB" sz="2000" dirty="0"/>
          </a:p>
        </p:txBody>
      </p:sp>
      <p:pic>
        <p:nvPicPr>
          <p:cNvPr id="8" name="Content Placeholder 7">
            <a:extLst>
              <a:ext uri="{FF2B5EF4-FFF2-40B4-BE49-F238E27FC236}">
                <a16:creationId xmlns:a16="http://schemas.microsoft.com/office/drawing/2014/main" id="{562C7EC2-83F6-1353-4F98-20BB4C009EE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1000" y="2203128"/>
            <a:ext cx="4791600" cy="4210727"/>
          </a:xfrm>
        </p:spPr>
      </p:pic>
    </p:spTree>
    <p:extLst>
      <p:ext uri="{BB962C8B-B14F-4D97-AF65-F5344CB8AC3E}">
        <p14:creationId xmlns:p14="http://schemas.microsoft.com/office/powerpoint/2010/main" val="2821742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71EC3-E250-C2C0-B61F-44DDD248F23C}"/>
              </a:ext>
            </a:extLst>
          </p:cNvPr>
          <p:cNvSpPr>
            <a:spLocks noGrp="1"/>
          </p:cNvSpPr>
          <p:nvPr>
            <p:ph type="title"/>
          </p:nvPr>
        </p:nvSpPr>
        <p:spPr/>
        <p:txBody>
          <a:bodyPr>
            <a:normAutofit/>
          </a:bodyPr>
          <a:lstStyle/>
          <a:p>
            <a:pPr algn="ctr"/>
            <a:r>
              <a:rPr lang="en-US" sz="3200" dirty="0"/>
              <a:t>RECOMMENDATIONS</a:t>
            </a:r>
            <a:endParaRPr lang="en-GB" sz="3200" dirty="0"/>
          </a:p>
        </p:txBody>
      </p:sp>
      <p:sp>
        <p:nvSpPr>
          <p:cNvPr id="3" name="Content Placeholder 2">
            <a:extLst>
              <a:ext uri="{FF2B5EF4-FFF2-40B4-BE49-F238E27FC236}">
                <a16:creationId xmlns:a16="http://schemas.microsoft.com/office/drawing/2014/main" id="{C546A834-4033-6464-850B-0DC844365C55}"/>
              </a:ext>
            </a:extLst>
          </p:cNvPr>
          <p:cNvSpPr>
            <a:spLocks noGrp="1"/>
          </p:cNvSpPr>
          <p:nvPr>
            <p:ph idx="1"/>
          </p:nvPr>
        </p:nvSpPr>
        <p:spPr>
          <a:xfrm>
            <a:off x="680321" y="2336873"/>
            <a:ext cx="10063879" cy="4163940"/>
          </a:xfrm>
        </p:spPr>
        <p:txBody>
          <a:bodyPr>
            <a:normAutofit/>
          </a:bodyPr>
          <a:lstStyle/>
          <a:p>
            <a:pPr>
              <a:buFont typeface="Wingdings" panose="05000000000000000000" pitchFamily="2" charset="2"/>
              <a:buChar char="§"/>
            </a:pPr>
            <a:r>
              <a:rPr lang="en-US" sz="1800" dirty="0"/>
              <a:t>Focus on top-performing agents like Reed Clapper and their teams in order to spread great practices throughout the organization.</a:t>
            </a:r>
          </a:p>
          <a:p>
            <a:pPr>
              <a:buFont typeface="Wingdings" panose="05000000000000000000" pitchFamily="2" charset="2"/>
              <a:buChar char="§"/>
            </a:pPr>
            <a:r>
              <a:rPr lang="en-US" sz="1800" dirty="0"/>
              <a:t>Provide agents who are having troubles converting, with specific training that targets the holes identified by the pipeline analysis.</a:t>
            </a:r>
          </a:p>
          <a:p>
            <a:pPr>
              <a:buFont typeface="Wingdings" panose="05000000000000000000" pitchFamily="2" charset="2"/>
              <a:buChar char="§"/>
            </a:pPr>
            <a:r>
              <a:rPr lang="en-US" sz="1800" dirty="0"/>
              <a:t>Invest in high-revenue drivers like GTX Plus Pro and reposition or promote underperforming products like MG Special.</a:t>
            </a:r>
          </a:p>
          <a:p>
            <a:pPr>
              <a:buFont typeface="Wingdings" panose="05000000000000000000" pitchFamily="2" charset="2"/>
              <a:buChar char="§"/>
            </a:pPr>
            <a:r>
              <a:rPr lang="en-US" sz="1800" dirty="0"/>
              <a:t>Implement CRM alerts and follow-up processes to discover stalled deals early and reduce late-stage losses.</a:t>
            </a:r>
          </a:p>
          <a:p>
            <a:pPr>
              <a:buFont typeface="Wingdings" panose="05000000000000000000" pitchFamily="2" charset="2"/>
              <a:buChar char="§"/>
            </a:pPr>
            <a:r>
              <a:rPr lang="en-US" sz="1800" dirty="0"/>
              <a:t>Leverage growth in high-performing industries, such as Retail, while investigating untapped potential in lagging ones.</a:t>
            </a:r>
          </a:p>
          <a:p>
            <a:pPr>
              <a:buFont typeface="Wingdings" panose="05000000000000000000" pitchFamily="2" charset="2"/>
              <a:buChar char="§"/>
            </a:pPr>
            <a:r>
              <a:rPr lang="en-US" sz="1800" dirty="0"/>
              <a:t>Track quarterly revenue and win rate trends to make proactive strategy adjustments and sustain steady pipeline growth.</a:t>
            </a:r>
            <a:endParaRPr lang="en-GB" sz="1800" dirty="0"/>
          </a:p>
        </p:txBody>
      </p:sp>
    </p:spTree>
    <p:extLst>
      <p:ext uri="{BB962C8B-B14F-4D97-AF65-F5344CB8AC3E}">
        <p14:creationId xmlns:p14="http://schemas.microsoft.com/office/powerpoint/2010/main" val="4046026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0A5D2-2E55-6285-6BC5-37FF20C6149A}"/>
              </a:ext>
            </a:extLst>
          </p:cNvPr>
          <p:cNvSpPr>
            <a:spLocks noGrp="1"/>
          </p:cNvSpPr>
          <p:nvPr>
            <p:ph type="title"/>
          </p:nvPr>
        </p:nvSpPr>
        <p:spPr/>
        <p:txBody>
          <a:bodyPr>
            <a:normAutofit/>
          </a:bodyPr>
          <a:lstStyle/>
          <a:p>
            <a:pPr algn="ctr"/>
            <a:r>
              <a:rPr lang="en-US" sz="3200" dirty="0"/>
              <a:t>CONCLUSION</a:t>
            </a:r>
            <a:endParaRPr lang="en-GB" sz="3200" dirty="0"/>
          </a:p>
        </p:txBody>
      </p:sp>
      <p:sp>
        <p:nvSpPr>
          <p:cNvPr id="3" name="Content Placeholder 2">
            <a:extLst>
              <a:ext uri="{FF2B5EF4-FFF2-40B4-BE49-F238E27FC236}">
                <a16:creationId xmlns:a16="http://schemas.microsoft.com/office/drawing/2014/main" id="{AD1B1184-662D-E3CA-B138-E07510B98EED}"/>
              </a:ext>
            </a:extLst>
          </p:cNvPr>
          <p:cNvSpPr>
            <a:spLocks noGrp="1"/>
          </p:cNvSpPr>
          <p:nvPr>
            <p:ph idx="1"/>
          </p:nvPr>
        </p:nvSpPr>
        <p:spPr/>
        <p:txBody>
          <a:bodyPr/>
          <a:lstStyle/>
          <a:p>
            <a:pPr marL="0" indent="0">
              <a:buNone/>
            </a:pPr>
            <a:r>
              <a:rPr lang="en-US" dirty="0"/>
              <a:t>       </a:t>
            </a:r>
          </a:p>
          <a:p>
            <a:pPr marL="0" indent="0">
              <a:buNone/>
            </a:pPr>
            <a:r>
              <a:rPr lang="en-US" dirty="0"/>
              <a:t>       </a:t>
            </a:r>
            <a:r>
              <a:rPr lang="en-US" sz="2000" dirty="0"/>
              <a:t>This analysis shows that despite strength in revenue growth, success varies by teams, products, and regions. By enhancing the strengths of top performers, resolving late-stage deal losses, and improving product strategy, the organization can increase win rates and promote more steady, sustainable growth.</a:t>
            </a:r>
            <a:endParaRPr lang="en-GB" sz="2000" dirty="0"/>
          </a:p>
        </p:txBody>
      </p:sp>
    </p:spTree>
    <p:extLst>
      <p:ext uri="{BB962C8B-B14F-4D97-AF65-F5344CB8AC3E}">
        <p14:creationId xmlns:p14="http://schemas.microsoft.com/office/powerpoint/2010/main" val="532071265"/>
      </p:ext>
    </p:extLst>
  </p:cSld>
  <p:clrMapOvr>
    <a:masterClrMapping/>
  </p:clrMapOvr>
</p:sld>
</file>

<file path=ppt/theme/theme1.xml><?xml version="1.0" encoding="utf-8"?>
<a:theme xmlns:a="http://schemas.openxmlformats.org/drawingml/2006/main" name="Berli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TM04033917[[fn=Berlin]]</Template>
  <TotalTime>1760</TotalTime>
  <Words>689</Words>
  <Application>Microsoft Office PowerPoint</Application>
  <PresentationFormat>Widescreen</PresentationFormat>
  <Paragraphs>63</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Trebuchet MS</vt:lpstr>
      <vt:lpstr>Wingdings</vt:lpstr>
      <vt:lpstr>Berlin</vt:lpstr>
      <vt:lpstr>CRM SALES OPPORTUNITIES ANALYSIS</vt:lpstr>
      <vt:lpstr>DASHBOARD OVERVIEW</vt:lpstr>
      <vt:lpstr>INTRODUCTION</vt:lpstr>
      <vt:lpstr>OBJECTIVES</vt:lpstr>
      <vt:lpstr>PROBLEM STATEMENT</vt:lpstr>
      <vt:lpstr>BUSINESS QUESTIONS</vt:lpstr>
      <vt:lpstr>DATASET OVERVIEW</vt:lpstr>
      <vt:lpstr>ANALYSIS AND FINDINGS</vt:lpstr>
      <vt:lpstr>Which sales team is generating the highest revenue?</vt:lpstr>
      <vt:lpstr>Which sales agent has the best win rate?</vt:lpstr>
      <vt:lpstr>How has total revenue changed from quarter to quarter?</vt:lpstr>
      <vt:lpstr>Which product generates the most revenue?</vt:lpstr>
      <vt:lpstr>At what stage of the sales process are the most deals lost?</vt:lpstr>
      <vt:lpstr>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Ebun Nofiu</dc:creator>
  <cp:lastModifiedBy>Ebun Nofiu</cp:lastModifiedBy>
  <cp:revision>5</cp:revision>
  <dcterms:created xsi:type="dcterms:W3CDTF">2025-09-28T10:15:27Z</dcterms:created>
  <dcterms:modified xsi:type="dcterms:W3CDTF">2025-10-11T11:05:05Z</dcterms:modified>
</cp:coreProperties>
</file>